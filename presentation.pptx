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67" r:id="rId17"/>
    <p:sldId id="280" r:id="rId18"/>
    <p:sldId id="281" r:id="rId19"/>
    <p:sldId id="282" r:id="rId20"/>
    <p:sldId id="283" r:id="rId21"/>
    <p:sldId id="274" r:id="rId22"/>
    <p:sldId id="275" r:id="rId23"/>
    <p:sldId id="276" r:id="rId24"/>
    <p:sldId id="277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83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23921B-0D19-E548-94FC-B1AE2FDA6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7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Renewable Energy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is energy generated from natural resources that are naturally replenished.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52728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52728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70632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70632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92624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96712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96712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92624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Hydropower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14616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18704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1870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14616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36608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40696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40696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36608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 Energy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HELPS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carbon emissions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environment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sustainable development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dependence on fossil fuels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future energy demands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10881360" cy="54864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5897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renewable energy is growing worldwide, renewable energy performance still varies between countries.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around the world are investing heavily in renewable energy.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renewable energy performance still differs from one country to another because of economic, environmental, and governmental factors.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280160" y="3383280"/>
            <a:ext cx="9601200" cy="196596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3383280"/>
            <a:ext cx="9601200" cy="1965960"/>
          </a:xfrm>
          <a:prstGeom prst="rect">
            <a:avLst/>
          </a:prstGeom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3611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8F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3886200"/>
            <a:ext cx="9235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Factors Shape Renewable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Performance?”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Python with SQL 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309360" cy="470916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4335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7444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Connection Code Screenshot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0736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pyodbc connection code screenshot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086600" y="1463040"/>
            <a:ext cx="4572000" cy="47091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60920" y="1737360"/>
            <a:ext cx="502920" cy="502920"/>
          </a:xfrm>
          <a:prstGeom prst="ellipse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09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0920" y="23774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Connected Python to 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292608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analyzing the dataset, Python was connected to SQL Server using pyodbc.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60920" y="3703320"/>
            <a:ext cx="3977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database directly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SQL queries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 efficiently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analysis using Python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B2DB5B-3A3F-8C12-F910-9D4E70752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46865"/>
            <a:ext cx="6339841" cy="47415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26060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38201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929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Five Rows of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220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dataframe .head() screenshot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1463040" cy="9601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4828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4251960"/>
            <a:ext cx="1463040" cy="9601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456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194560" y="4828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4251960"/>
            <a:ext cx="1463040" cy="9601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840480" y="4828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4251960"/>
            <a:ext cx="1463040" cy="9601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0" y="4828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0" y="1463040"/>
            <a:ext cx="4572000" cy="374904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6092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36092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renewable energy information from multiple countries, including: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265176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Type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Policies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Indicators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9B4429E-4011-20E1-4351-11049ED3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440180"/>
            <a:ext cx="6488503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709160" cy="28346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49631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807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363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screenshot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40680" y="2651760"/>
            <a:ext cx="502920" cy="502920"/>
          </a:xfrm>
          <a:prstGeom prst="ellipse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4709160" cy="28346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249631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807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1363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screenshot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unnecessary data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data quality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dataset for visualization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dataset for machine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4846320"/>
            <a:ext cx="4069080" cy="15087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0" y="484632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dataset became accurate and reliable for analysis.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DF3D45-4DC7-294E-C2D8-723A4E7B9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40327"/>
            <a:ext cx="4873925" cy="29213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3C0CDFD-D64B-65D5-FADF-947CBEE1C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40328"/>
            <a:ext cx="4807789" cy="2921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195560" cy="228600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21992"/>
            <a:ext cx="9829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32888"/>
            <a:ext cx="9829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Created Columns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62072"/>
            <a:ext cx="9829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engineered feature columns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185160" cy="1920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 Capita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30352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output relative to population size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53840" y="3977640"/>
            <a:ext cx="3185160" cy="1920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28160" y="42062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281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28160" y="480060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Capita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28160" y="530352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environmental impact per person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59040" y="3977640"/>
            <a:ext cx="3185160" cy="1920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833360" y="42062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333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33360" y="480060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Ratio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33360" y="530352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production directed to export markets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provided deeper insights into renewable energy performance.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E2D4DC8-73F5-4DD4-D3F6-823009FF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3312"/>
            <a:ext cx="1035169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Using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102" y="2130552"/>
            <a:ext cx="5072332" cy="119786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2000" y="3803904"/>
            <a:ext cx="4815840" cy="1131762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102" y="5440680"/>
            <a:ext cx="50723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 energy leads in total job creation, closely followed by Wind, Solar, and Biomass, while Hydro energy accounts for the lowest share of employment among renewable sources.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8657" y="2130552"/>
            <a:ext cx="5004184" cy="109728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3886199"/>
            <a:ext cx="4528868" cy="129845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ranks highest in total renewable energy production, followed by China and Japan, whereas the USA and Canada record the lowest production levels among the top 10 countries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0813727-E5FB-9D44-D541-479B2C1F5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59"/>
            <a:ext cx="5212080" cy="14630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DEA86E0-9F08-9535-82C7-22C24B606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67513"/>
            <a:ext cx="5212080" cy="14614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B71CD0A-6535-A375-7128-BA6D88F48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" y="3566160"/>
            <a:ext cx="5212081" cy="177393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3D62AB1-91DA-E80C-C95B-797965397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1" y="3566160"/>
            <a:ext cx="5212080" cy="16184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Using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30552"/>
            <a:ext cx="5029200" cy="109728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44880" y="3633187"/>
            <a:ext cx="4724400" cy="1551461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shows a uniform distribution across all energy types, indicating no strong linear correlation between financial investment levels and total energy output.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33011" y="2130552"/>
            <a:ext cx="4959829" cy="119786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33011" y="3594164"/>
            <a:ext cx="4959829" cy="159048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renewable energy production exhibits significant annual fluctuations from 2000 to 2023, reaching its peak around 2010 before stabilizing into cyclic highs and lows.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878DDF-A7A2-1848-D1D2-2D20B4369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01393"/>
            <a:ext cx="5212080" cy="14276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7B621EF-E08C-5778-4F33-09EA424F6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1" y="2001393"/>
            <a:ext cx="5212080" cy="14276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8A57DE8-6B6F-45B9-2270-07CAA6617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79876"/>
            <a:ext cx="5212079" cy="172364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3928E1-63F1-DD7C-1249-B541C7DC2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1" y="3579877"/>
            <a:ext cx="5212079" cy="1705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Using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4937760" cy="11201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3726180"/>
            <a:ext cx="4937760" cy="144018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matrix reveals virtually no linear correlation among the numeric variables, with all pairwise correlation coefficients staying extremely close to zero (between -0.03 and 0.04).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31282" y="2130552"/>
            <a:ext cx="4815838" cy="119786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3653028"/>
            <a:ext cx="4785055" cy="1513332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48400" y="5454396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production range is evenly distributed across all renewable types, with Biomass displaying a slightly higher median production than the other sources.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analysis answered important business questions and provided valuable insights before moving to predictive analytics.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AB688DD-BB96-9D27-B0EB-40ED3F322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1"/>
            <a:ext cx="5212080" cy="141732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EBE136B-5795-0DB8-8093-1D10F2DC8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634739"/>
            <a:ext cx="5242560" cy="162763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7DB5849-576A-8D90-A8EF-6660F56A3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53028"/>
            <a:ext cx="5212080" cy="160934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B703944-0D4D-56F2-7416-171061F12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11681"/>
            <a:ext cx="521208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Prediction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was used to predict renewable energy performance using the available indicators.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3400" y="1892808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VARIABLES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2450592"/>
            <a:ext cx="27797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800" dirty="0"/>
          </a:p>
          <a:p>
            <a:r>
              <a:rPr lang="en-US" sz="800" dirty="0"/>
              <a:t>, 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1050" dirty="0" err="1"/>
              <a:t>I</a:t>
            </a:r>
            <a:r>
              <a:rPr lang="en-US" sz="1100" dirty="0" err="1"/>
              <a:t>nstalled_Capacity_MW</a:t>
            </a:r>
            <a:r>
              <a:rPr lang="en-US" sz="1100" dirty="0"/>
              <a:t>, </a:t>
            </a:r>
            <a:r>
              <a:rPr lang="en-US" sz="1100" dirty="0" err="1"/>
              <a:t>Investments_USD</a:t>
            </a:r>
            <a:endParaRPr lang="en-US" sz="1100" dirty="0"/>
          </a:p>
          <a:p>
            <a:r>
              <a:rPr lang="en-US" sz="1100" dirty="0" err="1"/>
              <a:t>Population,GDP</a:t>
            </a:r>
            <a:r>
              <a:rPr lang="en-US" sz="1100" dirty="0"/>
              <a:t>, </a:t>
            </a:r>
            <a:r>
              <a:rPr lang="en-US" sz="1100" dirty="0" err="1"/>
              <a:t>Energy_Consumption</a:t>
            </a:r>
            <a:r>
              <a:rPr lang="en-US" sz="1100" dirty="0"/>
              <a:t>, </a:t>
            </a:r>
            <a:r>
              <a:rPr lang="en-US" sz="1100" dirty="0" err="1"/>
              <a:t>Renewable_Energy_Jobs</a:t>
            </a:r>
            <a:r>
              <a:rPr lang="en-US" sz="1100" dirty="0"/>
              <a:t>, </a:t>
            </a:r>
            <a:r>
              <a:rPr lang="en-US" sz="1100" dirty="0" err="1"/>
              <a:t>Solar_Irradiance</a:t>
            </a:r>
            <a:endParaRPr lang="en-US" sz="11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9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920240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96512" y="2029968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VARIABLE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96512" y="2304288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/>
              <a:t>Production_Per_Capita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324612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" y="3520440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80% / 20%]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3134408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6512" y="324612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96512" y="3520440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Random Forest Regressor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4462272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" y="4736592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[Accuracy value]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4352544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96512" y="4462272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96512" y="4736592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[R² / RMSE / MAE]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2156604"/>
            <a:ext cx="4160520" cy="3847381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0" y="366217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39730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Graph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43022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output visualization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F4962F4-596E-4D51-EF13-DFB45DD9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920240"/>
            <a:ext cx="4529497" cy="41613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Analytical Dashboard —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provides deeper renewable energy analysis, enabling country comparison and indicator analysis.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46520" cy="44348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99332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1102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Analytical Dashboard —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3941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264770" y="1965960"/>
            <a:ext cx="2794958" cy="4434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92698" y="2080260"/>
            <a:ext cx="2592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92698" y="2491740"/>
            <a:ext cx="2037301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Analysis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Filtering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Exploration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0F1BD1-BF21-AA7C-C260-1CE701B0A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15" y="1874520"/>
            <a:ext cx="8639354" cy="46729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Analytical Dashboard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6446520" cy="462686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547872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8587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Analytical Dashboard — advanced charts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8795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204385" y="1863090"/>
            <a:ext cx="2751826" cy="453771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5924" y="2099691"/>
            <a:ext cx="2405765" cy="322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45924" y="2513586"/>
            <a:ext cx="1984075" cy="3299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Charts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FE1115-9D8D-D995-5A14-C5076662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1"/>
            <a:ext cx="8484941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 —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Tableau dashboard provides advanced interactive visualizations with dynamic filtering.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46520" cy="44348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99332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1102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3941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230264" y="2039112"/>
            <a:ext cx="2799272" cy="4434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5154" y="2194560"/>
            <a:ext cx="2104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85540" y="2560320"/>
            <a:ext cx="20444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Filtering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Insights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290E2F-AAA6-C620-934D-240D2C726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1" y="1874520"/>
            <a:ext cx="85761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46520" cy="493776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547872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8587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interactive 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8795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333780" y="2057400"/>
            <a:ext cx="2725947" cy="43434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33780" y="2199390"/>
            <a:ext cx="20962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33780" y="2510286"/>
            <a:ext cx="2096219" cy="32047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Exploration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D131B7-8CAC-C93D-8203-32CEE8A5C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62" y="1325880"/>
            <a:ext cx="8729932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pi Analytical Dashboard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8660" y="1851660"/>
            <a:ext cx="10195560" cy="320040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679192"/>
            <a:ext cx="9829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990088"/>
            <a:ext cx="9829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Suite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9829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/ hero screenshot of the three dashboards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51206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Executive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7280" y="51206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Analytical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5716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97240" y="51206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85BD26B-7DA3-E514-4035-40A7B663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55" y="1388853"/>
            <a:ext cx="10776405" cy="49205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4AA06-1817-C311-73C8-804AAEC86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1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1ED8B-2AD2-9615-81B2-0E83EA44C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01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C7D41-1FFA-2242-BBE4-CF1971FAD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78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21AFA-A76E-C7CD-5FA8-85DCE49E7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95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D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5544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performance differs across countries.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881360" cy="73152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8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42316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positively influence renewable energy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0881360" cy="7315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D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32918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 contribute to renewable energy development.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0881360" cy="73152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8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41605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policies support renewable energy growth.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881360" cy="7315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029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D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5029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simplify business analysis.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291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5900" y="214884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and cleaned the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514600" cy="3291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74820" y="214884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748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0440" y="35204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important business questions.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14600" cy="3291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63740" y="214884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637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35204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renewable energy performance.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514600" cy="3291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52660" y="214884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526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98280" y="35204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raw data into interactive business insights.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the Business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118872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Factors Shape Renewable Energy Performance?”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0632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62072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Indicators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2624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84064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14616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06056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Policies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36608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28048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performance is influenced by a combination of these factors, which collectively support better decision-making.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renewable energy investments.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67200" y="160020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95800" y="182880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95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95800" y="246888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government policies.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85760" y="160020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14360" y="182880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143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14360" y="246888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innovation and research.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renewable energy infrastructure.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67200" y="356616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95800" y="379476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958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95800" y="443484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using Business Intelligence tools to monitor renewable energy performance.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264701-5F4C-05FF-ED48-39DF2349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14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1196</Words>
  <Application>Microsoft Office PowerPoint</Application>
  <PresentationFormat>Widescreen</PresentationFormat>
  <Paragraphs>333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شيماء عصام محمد السيد درويش</cp:lastModifiedBy>
  <cp:revision>5</cp:revision>
  <dcterms:created xsi:type="dcterms:W3CDTF">2026-07-24T21:46:08Z</dcterms:created>
  <dcterms:modified xsi:type="dcterms:W3CDTF">2026-07-25T00:53:07Z</dcterms:modified>
</cp:coreProperties>
</file>